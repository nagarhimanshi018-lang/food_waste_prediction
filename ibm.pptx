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66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6946B81-8C1C-08FA-582E-E92B4B1DD16C}">
          <p14:sldIdLst>
            <p14:sldId id="264"/>
            <p14:sldId id="265"/>
            <p14:sldId id="266"/>
          </p14:sldIdLst>
        </p14:section>
        <p14:section name="Data &amp; Method" id="{E1A6B541-A9B2-B014-1FD4-1FDD95D5EA94}">
          <p14:sldIdLst>
            <p14:sldId id="259"/>
            <p14:sldId id="260"/>
            <p14:sldId id="261"/>
          </p14:sldIdLst>
        </p14:section>
        <p14:section name="Results" id="{08146527-9ECD-542B-EA82-500411A8ADC6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7302B"/>
                </a:solidFill>
                <a:latin typeface="+mn-lt"/>
              </a:defRPr>
            </a:pPr>
            <a:r>
              <a:rPr lang="en-IN" sz="1000" b="0" i="0" u="none" strike="noStrike">
                <a:solidFill>
                  <a:srgbClr val="17302B"/>
                </a:solidFill>
                <a:latin typeface="+mn-lt"/>
              </a:rPr>
              <a:t>Meals Consumed Over Time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Meals</c:v>
                </c:pt>
              </c:strCache>
            </c:strRef>
          </c:tx>
          <c:spPr>
            <a:ln w="25400" cap="flat">
              <a:solidFill>
                <a:srgbClr val="1B8A6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B8A6B"/>
              </a:solidFill>
              <a:ln w="9525" cap="flat">
                <a:solidFill>
                  <a:srgbClr val="1B8A6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118</c:v>
                </c:pt>
                <c:pt idx="1">
                  <c:v>132</c:v>
                </c:pt>
                <c:pt idx="2">
                  <c:v>125</c:v>
                </c:pt>
                <c:pt idx="3">
                  <c:v>148</c:v>
                </c:pt>
                <c:pt idx="4">
                  <c:v>140</c:v>
                </c:pt>
                <c:pt idx="5">
                  <c:v>155</c:v>
                </c:pt>
                <c:pt idx="6">
                  <c:v>138</c:v>
                </c:pt>
                <c:pt idx="7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3-4995-ACBE-A6275E443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3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9525" cap="flat">
              <a:solidFill>
                <a:srgbClr val="E3F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30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7302B"/>
                </a:solidFill>
                <a:latin typeface="+mn-lt"/>
              </a:defRPr>
            </a:pPr>
            <a:r>
              <a:rPr lang="en-IN" sz="1000" b="0" i="0" u="none" strike="noStrike">
                <a:solidFill>
                  <a:srgbClr val="17302B"/>
                </a:solidFill>
                <a:latin typeface="+mn-lt"/>
              </a:rPr>
              <a:t>Demand by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1B8A6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150</c:v>
                </c:pt>
                <c:pt idx="1">
                  <c:v>138</c:v>
                </c:pt>
                <c:pt idx="2">
                  <c:v>142</c:v>
                </c:pt>
                <c:pt idx="3">
                  <c:v>146</c:v>
                </c:pt>
                <c:pt idx="4">
                  <c:v>160</c:v>
                </c:pt>
                <c:pt idx="5">
                  <c:v>119</c:v>
                </c:pt>
                <c:pt idx="6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3-44AA-9F63-CCE6C8AECF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3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F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30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27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914400"/>
            <a:ext cx="6309360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17320" y="365760"/>
            <a:ext cx="10149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E29238-546D-A581-E800-7120BA98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" y="0"/>
            <a:ext cx="12178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37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9AD36B-9D54-5106-07C9-806CC2DC8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" y="0"/>
            <a:ext cx="12170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4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687A2-5C14-476D-C0F4-3A4B0A569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" y="0"/>
            <a:ext cx="121580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2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badge"/>
          <p:cNvSpPr txBox="1"/>
          <p:nvPr/>
        </p:nvSpPr>
        <p:spPr>
          <a:xfrm>
            <a:off x="548640" y="33832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17320" y="3657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and Input Features</a:t>
            </a:r>
            <a:endParaRPr lang="en-US" sz="3200" dirty="0"/>
          </a:p>
        </p:txBody>
      </p:sp>
      <p:sp>
        <p:nvSpPr>
          <p:cNvPr id="4" name="Dataset description card"/>
          <p:cNvSpPr/>
          <p:nvPr/>
        </p:nvSpPr>
        <p:spPr>
          <a:xfrm>
            <a:off x="548640" y="137160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5" name="Label Dataset Description"/>
          <p:cNvSpPr/>
          <p:nvPr/>
        </p:nvSpPr>
        <p:spPr>
          <a:xfrm>
            <a:off x="777240" y="1554480"/>
            <a:ext cx="265176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Dataset Description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File: food_demand_sample.csv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 rows used: 180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Contains historical meal-related information.</a:t>
            </a:r>
            <a:endParaRPr lang="en-US" sz="1400" dirty="0"/>
          </a:p>
        </p:txBody>
      </p:sp>
      <p:sp>
        <p:nvSpPr>
          <p:cNvPr id="8" name="Label Input Features"/>
          <p:cNvSpPr/>
          <p:nvPr/>
        </p:nvSpPr>
        <p:spPr>
          <a:xfrm>
            <a:off x="4846320" y="1371600"/>
            <a:ext cx="210312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Input Features</a:t>
            </a:r>
            <a:endParaRPr lang="en-US" sz="1700" dirty="0"/>
          </a:p>
        </p:txBody>
      </p:sp>
      <p:graphicFrame>
        <p:nvGraphicFramePr>
          <p:cNvPr id="10" name="Input feat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74520"/>
          <a:ext cx="6793992" cy="28163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5C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day_of_week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302B"/>
                          </a:solidFill>
                        </a:rPr>
                        <a:t>Day of the week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5C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temperature_c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302B"/>
                          </a:solidFill>
                        </a:rPr>
                        <a:t>Temperature in °C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5C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rainfall_mm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302B"/>
                          </a:solidFill>
                        </a:rPr>
                        <a:t>Rainfall in mm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5C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special_event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302B"/>
                          </a:solidFill>
                        </a:rPr>
                        <a:t>Indicates special event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5C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meals_prepared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302B"/>
                          </a:solidFill>
                        </a:rPr>
                        <a:t>Meals prepared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5C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meals_consumed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302B"/>
                          </a:solidFill>
                        </a:rPr>
                        <a:t>Target variable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Data preparation card"/>
          <p:cNvSpPr/>
          <p:nvPr/>
        </p:nvSpPr>
        <p:spPr>
          <a:xfrm>
            <a:off x="548640" y="498348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12" name="Label Data Preparation"/>
          <p:cNvSpPr/>
          <p:nvPr/>
        </p:nvSpPr>
        <p:spPr>
          <a:xfrm>
            <a:off x="777240" y="5120640"/>
            <a:ext cx="228600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120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Data Preparation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5778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uses numerical and categorical preprocessing, including missing-value imputation and one-hot encoding for categorical features.</a:t>
            </a:r>
            <a:endParaRPr lang="en-US" sz="1400" dirty="0"/>
          </a:p>
        </p:txBody>
      </p:sp>
      <p:sp>
        <p:nvSpPr>
          <p:cNvPr id="15" name="CSV Dataset circle"/>
          <p:cNvSpPr/>
          <p:nvPr/>
        </p:nvSpPr>
        <p:spPr>
          <a:xfrm>
            <a:off x="7040880" y="5120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0" descr="CSV Datas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45" y="529620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629400" y="5943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CSV Dataset</a:t>
            </a:r>
            <a:endParaRPr lang="en-US" sz="1200" dirty="0"/>
          </a:p>
        </p:txBody>
      </p:sp>
      <p:sp>
        <p:nvSpPr>
          <p:cNvPr id="18" name="Preprocessing circle"/>
          <p:cNvSpPr/>
          <p:nvPr/>
        </p:nvSpPr>
        <p:spPr>
          <a:xfrm>
            <a:off x="8686800" y="5120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1" descr="Preprocess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365" y="529620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75320" y="5943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21" name="Clean Data circle"/>
          <p:cNvSpPr/>
          <p:nvPr/>
        </p:nvSpPr>
        <p:spPr>
          <a:xfrm>
            <a:off x="10332720" y="5120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2" descr="Clean Da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8285" y="52962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921240" y="5943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Clean Data</a:t>
            </a:r>
            <a:endParaRPr lang="en-US" sz="1200" dirty="0"/>
          </a:p>
        </p:txBody>
      </p:sp>
      <p:sp>
        <p:nvSpPr>
          <p:cNvPr id="24" name="Flow arrow"/>
          <p:cNvSpPr/>
          <p:nvPr/>
        </p:nvSpPr>
        <p:spPr>
          <a:xfrm>
            <a:off x="7955280" y="534924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Flow arrow"/>
          <p:cNvSpPr/>
          <p:nvPr/>
        </p:nvSpPr>
        <p:spPr>
          <a:xfrm>
            <a:off x="9601200" y="5349240"/>
            <a:ext cx="457200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badge"/>
          <p:cNvSpPr txBox="1"/>
          <p:nvPr/>
        </p:nvSpPr>
        <p:spPr>
          <a:xfrm>
            <a:off x="548640" y="33832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17320" y="3657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Methodology</a:t>
            </a:r>
            <a:endParaRPr lang="en-US" sz="3200" dirty="0"/>
          </a:p>
        </p:txBody>
      </p:sp>
      <p:sp>
        <p:nvSpPr>
          <p:cNvPr id="4" name="Step 1 card"/>
          <p:cNvSpPr/>
          <p:nvPr/>
        </p:nvSpPr>
        <p:spPr>
          <a:xfrm>
            <a:off x="548640" y="137160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pic>
        <p:nvPicPr>
          <p:cNvPr id="6" name="Image 0" descr="Dataset Loa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4996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Dataset Loading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18470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Load the CSV dataset using Pandas and select the features required for prediction.</a:t>
            </a:r>
            <a:endParaRPr lang="en-US" sz="1400" dirty="0"/>
          </a:p>
        </p:txBody>
      </p:sp>
      <p:sp>
        <p:nvSpPr>
          <p:cNvPr id="9" name="Step 2 card"/>
          <p:cNvSpPr/>
          <p:nvPr/>
        </p:nvSpPr>
        <p:spPr>
          <a:xfrm>
            <a:off x="548640" y="274320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pic>
        <p:nvPicPr>
          <p:cNvPr id="11" name="Image 1" descr="Data Preprocess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1546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11680" y="28712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 Preprocessing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011680" y="32186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Prepare numerical and categorical variables and handle missing values using imputation techniques.</a:t>
            </a:r>
            <a:endParaRPr lang="en-US" sz="1400" dirty="0"/>
          </a:p>
        </p:txBody>
      </p:sp>
      <p:sp>
        <p:nvSpPr>
          <p:cNvPr id="14" name="Step 3 card"/>
          <p:cNvSpPr/>
          <p:nvPr/>
        </p:nvSpPr>
        <p:spPr>
          <a:xfrm>
            <a:off x="548640" y="411480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pic>
        <p:nvPicPr>
          <p:cNvPr id="16" name="Image 2" descr="Train-Test Spl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5262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11680" y="4242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Train-Test Split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45902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Divide the dataset into training and testing sets (80:20 ratio).</a:t>
            </a:r>
            <a:endParaRPr lang="en-US" sz="1400" dirty="0"/>
          </a:p>
        </p:txBody>
      </p:sp>
      <p:sp>
        <p:nvSpPr>
          <p:cNvPr id="19" name="Step 4 card"/>
          <p:cNvSpPr/>
          <p:nvPr/>
        </p:nvSpPr>
        <p:spPr>
          <a:xfrm>
            <a:off x="6245352" y="137160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20" name="Step number 4"/>
          <p:cNvSpPr txBox="1"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pic>
        <p:nvPicPr>
          <p:cNvPr id="21" name="Image 3" descr="Random Forest Regress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17830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08392" y="14996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Random Forest Regression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08392" y="18470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Train a Random Forest Regressor using Scikit-learn to estimate the number of meals consumed.</a:t>
            </a:r>
            <a:endParaRPr lang="en-US" sz="1400" dirty="0"/>
          </a:p>
        </p:txBody>
      </p:sp>
      <p:sp>
        <p:nvSpPr>
          <p:cNvPr id="24" name="Step 5 card"/>
          <p:cNvSpPr/>
          <p:nvPr/>
        </p:nvSpPr>
        <p:spPr>
          <a:xfrm>
            <a:off x="6245352" y="274320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25" name="Step number 5"/>
          <p:cNvSpPr txBox="1"/>
          <p:nvPr/>
        </p:nvSpPr>
        <p:spPr>
          <a:xfrm>
            <a:off x="6428232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pic>
        <p:nvPicPr>
          <p:cNvPr id="26" name="Image 4" descr="Model Evalu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315468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08392" y="28712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 Evaluation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708392" y="32186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Evaluate using MAE, RMSE and R² score.</a:t>
            </a:r>
            <a:endParaRPr lang="en-US" sz="1400" dirty="0"/>
          </a:p>
        </p:txBody>
      </p:sp>
      <p:sp>
        <p:nvSpPr>
          <p:cNvPr id="29" name="Step 6 card"/>
          <p:cNvSpPr/>
          <p:nvPr/>
        </p:nvSpPr>
        <p:spPr>
          <a:xfrm>
            <a:off x="6245352" y="411480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30" name="Step number 6"/>
          <p:cNvSpPr txBox="1"/>
          <p:nvPr/>
        </p:nvSpPr>
        <p:spPr>
          <a:xfrm>
            <a:off x="6428232" y="4480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pic>
        <p:nvPicPr>
          <p:cNvPr id="31" name="Image 5" descr="Streamlit Dashboar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4032" y="452628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708392" y="4242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Streamlit Dashboard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7708392" y="45902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Integrate the saved model into a Streamlit app for user input and prediction.</a:t>
            </a:r>
            <a:endParaRPr lang="en-US" sz="1400" dirty="0"/>
          </a:p>
        </p:txBody>
      </p:sp>
      <p:sp>
        <p:nvSpPr>
          <p:cNvPr id="34" name="Evaluation metrics bar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rgbClr val="0F5C4D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4"/>
                </a:solidFill>
              </a:rPr>
              <a:t>Evaluation Metrics:  </a:t>
            </a:r>
            <a:r>
              <a:rPr lang="en-US" sz="2000" dirty="0">
                <a:solidFill>
                  <a:schemeClr val="bg1"/>
                </a:solidFill>
              </a:rPr>
              <a:t>MAE, RMSE, R² score</a:t>
            </a:r>
            <a:endParaRPr lang="en-US" sz="2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badge"/>
          <p:cNvSpPr txBox="1"/>
          <p:nvPr/>
        </p:nvSpPr>
        <p:spPr>
          <a:xfrm>
            <a:off x="548640" y="33832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6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17320" y="3657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4" name="Python card"/>
          <p:cNvSpPr/>
          <p:nvPr/>
        </p:nvSpPr>
        <p:spPr>
          <a:xfrm>
            <a:off x="548640" y="1371600"/>
            <a:ext cx="361188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pic>
        <p:nvPicPr>
          <p:cNvPr id="5" name="Image 0" descr="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27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Python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Main programming language</a:t>
            </a:r>
            <a:endParaRPr lang="en-US" sz="1400" dirty="0"/>
          </a:p>
        </p:txBody>
      </p:sp>
      <p:sp>
        <p:nvSpPr>
          <p:cNvPr id="8" name="Pandas card"/>
          <p:cNvSpPr/>
          <p:nvPr/>
        </p:nvSpPr>
        <p:spPr>
          <a:xfrm>
            <a:off x="4434840" y="1371600"/>
            <a:ext cx="361188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pic>
        <p:nvPicPr>
          <p:cNvPr id="9" name="Image 1" descr="Pand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830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1627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Pandas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loading, processing and analysis</a:t>
            </a:r>
            <a:endParaRPr lang="en-US" sz="1400" dirty="0"/>
          </a:p>
        </p:txBody>
      </p:sp>
      <p:sp>
        <p:nvSpPr>
          <p:cNvPr id="12" name="Scikit-learn card"/>
          <p:cNvSpPr/>
          <p:nvPr/>
        </p:nvSpPr>
        <p:spPr>
          <a:xfrm>
            <a:off x="548640" y="3154680"/>
            <a:ext cx="361188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pic>
        <p:nvPicPr>
          <p:cNvPr id="13" name="Image 2" descr="Scikit-lear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661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4107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Scikit-learn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Machine learning model training &amp; evaluation</a:t>
            </a:r>
            <a:endParaRPr lang="en-US" sz="1400" dirty="0"/>
          </a:p>
        </p:txBody>
      </p:sp>
      <p:sp>
        <p:nvSpPr>
          <p:cNvPr id="16" name="Streamlit card"/>
          <p:cNvSpPr/>
          <p:nvPr/>
        </p:nvSpPr>
        <p:spPr>
          <a:xfrm>
            <a:off x="4434840" y="3154680"/>
            <a:ext cx="361188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pic>
        <p:nvPicPr>
          <p:cNvPr id="17" name="Image 3" descr="Streaml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56616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77840" y="34107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Streamlit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web dashboard</a:t>
            </a:r>
            <a:endParaRPr lang="en-US" sz="1400" dirty="0"/>
          </a:p>
        </p:txBody>
      </p:sp>
      <p:sp>
        <p:nvSpPr>
          <p:cNvPr id="20" name="Joblib card"/>
          <p:cNvSpPr/>
          <p:nvPr/>
        </p:nvSpPr>
        <p:spPr>
          <a:xfrm>
            <a:off x="548640" y="493776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pic>
        <p:nvPicPr>
          <p:cNvPr id="21" name="Image 4" descr="Jobli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1206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5120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Joblib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31520" y="5760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Model saving and loading</a:t>
            </a:r>
            <a:endParaRPr lang="en-US" sz="1300" dirty="0"/>
          </a:p>
        </p:txBody>
      </p:sp>
      <p:sp>
        <p:nvSpPr>
          <p:cNvPr id="24" name="CSV card"/>
          <p:cNvSpPr/>
          <p:nvPr/>
        </p:nvSpPr>
        <p:spPr>
          <a:xfrm>
            <a:off x="3108960" y="493776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pic>
        <p:nvPicPr>
          <p:cNvPr id="25" name="Image 5" descr="CSV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512064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931920" y="5120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CSV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3291840" y="5760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Dataset format</a:t>
            </a:r>
            <a:endParaRPr lang="en-US" sz="1300" dirty="0"/>
          </a:p>
        </p:txBody>
      </p:sp>
      <p:sp>
        <p:nvSpPr>
          <p:cNvPr id="28" name="GitHub card"/>
          <p:cNvSpPr/>
          <p:nvPr/>
        </p:nvSpPr>
        <p:spPr>
          <a:xfrm>
            <a:off x="5669280" y="493776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pic>
        <p:nvPicPr>
          <p:cNvPr id="29" name="Image 6" descr="GitHu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0" y="512064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492240" y="5120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5852160" y="5760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Code repository</a:t>
            </a:r>
            <a:endParaRPr lang="en-US" sz="1300" dirty="0"/>
          </a:p>
        </p:txBody>
      </p:sp>
      <p:sp>
        <p:nvSpPr>
          <p:cNvPr id="32" name="System components card"/>
          <p:cNvSpPr/>
          <p:nvPr/>
        </p:nvSpPr>
        <p:spPr>
          <a:xfrm>
            <a:off x="8321040" y="1371600"/>
            <a:ext cx="3319272" cy="493776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33" name="Leaf circle"/>
          <p:cNvSpPr/>
          <p:nvPr/>
        </p:nvSpPr>
        <p:spPr>
          <a:xfrm>
            <a:off x="859536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7" descr="Lea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0925" y="1821485"/>
            <a:ext cx="380390" cy="38039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59536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System Components</a:t>
            </a:r>
            <a:endParaRPr lang="en-US" sz="2000" dirty="0"/>
          </a:p>
        </p:txBody>
      </p:sp>
      <p:sp>
        <p:nvSpPr>
          <p:cNvPr id="36" name="Text 26"/>
          <p:cNvSpPr txBox="1"/>
          <p:nvPr/>
        </p:nvSpPr>
        <p:spPr>
          <a:xfrm>
            <a:off x="8595360" y="32918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Dataset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 training script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Saved model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Streamlit application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badge"/>
          <p:cNvSpPr txBox="1"/>
          <p:nvPr/>
        </p:nvSpPr>
        <p:spPr>
          <a:xfrm>
            <a:off x="548640" y="33832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7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17320" y="3657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 and Dashboard</a:t>
            </a:r>
            <a:endParaRPr lang="en-US" sz="3200" dirty="0"/>
          </a:p>
        </p:txBody>
      </p:sp>
      <p:sp>
        <p:nvSpPr>
          <p:cNvPr id="4" name="Label Model Evaluation Results"/>
          <p:cNvSpPr/>
          <p:nvPr/>
        </p:nvSpPr>
        <p:spPr>
          <a:xfrm>
            <a:off x="548640" y="1371600"/>
            <a:ext cx="329184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Model Evaluation Results</a:t>
            </a:r>
            <a:endParaRPr lang="en-US" sz="1700" dirty="0"/>
          </a:p>
        </p:txBody>
      </p:sp>
      <p:sp>
        <p:nvSpPr>
          <p:cNvPr id="6" name="MAE stat card"/>
          <p:cNvSpPr/>
          <p:nvPr/>
        </p:nvSpPr>
        <p:spPr>
          <a:xfrm>
            <a:off x="548640" y="1920240"/>
            <a:ext cx="178308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MAE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9.51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meals</a:t>
            </a:r>
            <a:endParaRPr lang="en-US" sz="1400" dirty="0"/>
          </a:p>
        </p:txBody>
      </p:sp>
      <p:sp>
        <p:nvSpPr>
          <p:cNvPr id="10" name="RMSE stat card"/>
          <p:cNvSpPr/>
          <p:nvPr/>
        </p:nvSpPr>
        <p:spPr>
          <a:xfrm>
            <a:off x="2514600" y="1920240"/>
            <a:ext cx="178308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RMSE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11.63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meals</a:t>
            </a:r>
            <a:endParaRPr lang="en-US" sz="1400" dirty="0"/>
          </a:p>
        </p:txBody>
      </p:sp>
      <p:sp>
        <p:nvSpPr>
          <p:cNvPr id="14" name="R² Score stat card"/>
          <p:cNvSpPr/>
          <p:nvPr/>
        </p:nvSpPr>
        <p:spPr>
          <a:xfrm>
            <a:off x="4480560" y="1920240"/>
            <a:ext cx="178308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R² Score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0.554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score</a:t>
            </a:r>
            <a:endParaRPr lang="en-US" sz="1400" dirty="0"/>
          </a:p>
        </p:txBody>
      </p:sp>
      <p:sp>
        <p:nvSpPr>
          <p:cNvPr id="18" name="Label Example Predictions"/>
          <p:cNvSpPr/>
          <p:nvPr/>
        </p:nvSpPr>
        <p:spPr>
          <a:xfrm>
            <a:off x="548640" y="3931920"/>
            <a:ext cx="283464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Example Predictions</a:t>
            </a:r>
            <a:endParaRPr lang="en-US" sz="1700" dirty="0"/>
          </a:p>
        </p:txBody>
      </p:sp>
      <p:sp>
        <p:nvSpPr>
          <p:cNvPr id="20" name="Prediction ~151 meals"/>
          <p:cNvSpPr/>
          <p:nvPr/>
        </p:nvSpPr>
        <p:spPr>
          <a:xfrm>
            <a:off x="548640" y="4480560"/>
            <a:ext cx="57607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0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Monday, 30°C, no rain, no special event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4480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  ~151 meals</a:t>
            </a:r>
            <a:endParaRPr lang="en-US" sz="1800" dirty="0"/>
          </a:p>
        </p:txBody>
      </p:sp>
      <p:sp>
        <p:nvSpPr>
          <p:cNvPr id="23" name="Prediction ~119 meals"/>
          <p:cNvSpPr/>
          <p:nvPr/>
        </p:nvSpPr>
        <p:spPr>
          <a:xfrm>
            <a:off x="548640" y="5440680"/>
            <a:ext cx="57607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440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Saturday, 35°C, 10 mm rainfall, special event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5440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  ~119 meals</a:t>
            </a:r>
            <a:endParaRPr lang="en-US" sz="1800" dirty="0"/>
          </a:p>
        </p:txBody>
      </p:sp>
      <p:sp>
        <p:nvSpPr>
          <p:cNvPr id="26" name="Dashboard mock-up frame"/>
          <p:cNvSpPr/>
          <p:nvPr/>
        </p:nvSpPr>
        <p:spPr>
          <a:xfrm>
            <a:off x="6583680" y="1371600"/>
            <a:ext cx="5056632" cy="493776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rgbClr val="9CC9BB"/>
            </a:solidFill>
            <a:prstDash val="solid"/>
          </a:ln>
        </p:spPr>
      </p:sp>
      <p:sp>
        <p:nvSpPr>
          <p:cNvPr id="27" name="Sidebar"/>
          <p:cNvSpPr/>
          <p:nvPr/>
        </p:nvSpPr>
        <p:spPr>
          <a:xfrm>
            <a:off x="6629400" y="1417320"/>
            <a:ext cx="1188720" cy="3017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1508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Food Demand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Prediction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214884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Home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Prediction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Historical Data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About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Predict Meal Demand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1920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Day of Week</a:t>
            </a:r>
            <a:endParaRPr lang="en-US" sz="1000" dirty="0"/>
          </a:p>
        </p:txBody>
      </p:sp>
      <p:sp>
        <p:nvSpPr>
          <p:cNvPr id="32" name="Field Day of Week"/>
          <p:cNvSpPr/>
          <p:nvPr/>
        </p:nvSpPr>
        <p:spPr>
          <a:xfrm>
            <a:off x="8001000" y="2121408"/>
            <a:ext cx="1920240" cy="310896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rgbClr val="B7C4C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92440" y="21214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Monday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Temperature (°C)</a:t>
            </a:r>
            <a:endParaRPr lang="en-US" sz="1000" dirty="0"/>
          </a:p>
        </p:txBody>
      </p:sp>
      <p:sp>
        <p:nvSpPr>
          <p:cNvPr id="35" name="Field Temperature (°C)"/>
          <p:cNvSpPr/>
          <p:nvPr/>
        </p:nvSpPr>
        <p:spPr>
          <a:xfrm>
            <a:off x="8001000" y="2715768"/>
            <a:ext cx="914400" cy="310896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rgbClr val="B7C4C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92440" y="27157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30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Rainfall (mm)</a:t>
            </a:r>
            <a:endParaRPr lang="en-US" sz="1000" dirty="0"/>
          </a:p>
        </p:txBody>
      </p:sp>
      <p:sp>
        <p:nvSpPr>
          <p:cNvPr id="38" name="Field Rainfall (mm)"/>
          <p:cNvSpPr/>
          <p:nvPr/>
        </p:nvSpPr>
        <p:spPr>
          <a:xfrm>
            <a:off x="9006840" y="2715768"/>
            <a:ext cx="914400" cy="310896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rgbClr val="B7C4C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98280" y="27157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001000" y="3108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Special Event</a:t>
            </a:r>
            <a:endParaRPr lang="en-US" sz="1000" dirty="0"/>
          </a:p>
        </p:txBody>
      </p:sp>
      <p:sp>
        <p:nvSpPr>
          <p:cNvPr id="41" name="Field Special Event"/>
          <p:cNvSpPr/>
          <p:nvPr/>
        </p:nvSpPr>
        <p:spPr>
          <a:xfrm>
            <a:off x="8001000" y="3310128"/>
            <a:ext cx="1920240" cy="310896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rgbClr val="B7C4C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92440" y="3310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No</a:t>
            </a:r>
            <a:endParaRPr lang="en-US" sz="1100" dirty="0"/>
          </a:p>
        </p:txBody>
      </p:sp>
      <p:sp>
        <p:nvSpPr>
          <p:cNvPr id="43" name="Predict button"/>
          <p:cNvSpPr txBox="1"/>
          <p:nvPr/>
        </p:nvSpPr>
        <p:spPr>
          <a:xfrm>
            <a:off x="8001000" y="3794760"/>
            <a:ext cx="91440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Predict</a:t>
            </a:r>
            <a:endParaRPr lang="en-US" sz="1200" dirty="0"/>
          </a:p>
        </p:txBody>
      </p:sp>
      <p:sp>
        <p:nvSpPr>
          <p:cNvPr id="44" name="Prediction result card"/>
          <p:cNvSpPr/>
          <p:nvPr/>
        </p:nvSpPr>
        <p:spPr>
          <a:xfrm>
            <a:off x="10104120" y="1920240"/>
            <a:ext cx="1417320" cy="182880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49840" y="2011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Predicted Meals Consumed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149840" y="2560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151</a:t>
            </a:r>
            <a:endParaRPr lang="en-US" sz="36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meals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76656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Historical Data Overview</a:t>
            </a:r>
            <a:endParaRPr lang="en-US" sz="1200" dirty="0"/>
          </a:p>
        </p:txBody>
      </p:sp>
      <p:graphicFrame>
        <p:nvGraphicFramePr>
          <p:cNvPr id="49" name="Chart 0"/>
          <p:cNvGraphicFramePr/>
          <p:nvPr/>
        </p:nvGraphicFramePr>
        <p:xfrm>
          <a:off x="6720840" y="4800600"/>
          <a:ext cx="23774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" name="Chart 1"/>
          <p:cNvGraphicFramePr/>
          <p:nvPr/>
        </p:nvGraphicFramePr>
        <p:xfrm>
          <a:off x="9144000" y="4800600"/>
          <a:ext cx="24231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badge"/>
          <p:cNvSpPr txBox="1"/>
          <p:nvPr/>
        </p:nvSpPr>
        <p:spPr>
          <a:xfrm>
            <a:off x="548640" y="33832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8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17320" y="3657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4" name="Conclusion card"/>
          <p:cNvSpPr/>
          <p:nvPr/>
        </p:nvSpPr>
        <p:spPr>
          <a:xfrm>
            <a:off x="548640" y="1371600"/>
            <a:ext cx="544068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5" name="Conclusion circle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Conclu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6861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Developed a working prototype for predicting meal consumption.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Integrated the trained model with a Streamlit dashboard.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Demonstrated how data-driven estimates can support food preparation planning.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Supports SDG 12 by exploring a data-driven approach to responsible food consumption and reducing potential food surplus.</a:t>
            </a:r>
            <a:endParaRPr lang="en-US" sz="1400" dirty="0"/>
          </a:p>
        </p:txBody>
      </p:sp>
      <p:sp>
        <p:nvSpPr>
          <p:cNvPr id="9" name="Future scope card"/>
          <p:cNvSpPr/>
          <p:nvPr/>
        </p:nvSpPr>
        <p:spPr>
          <a:xfrm>
            <a:off x="6199632" y="1371600"/>
            <a:ext cx="544068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2700">
            <a:solidFill>
              <a:srgbClr val="CFE6DD"/>
            </a:solidFill>
            <a:prstDash val="solid"/>
          </a:ln>
        </p:spPr>
      </p:sp>
      <p:sp>
        <p:nvSpPr>
          <p:cNvPr id="10" name="Future circle"/>
          <p:cNvSpPr/>
          <p:nvPr/>
        </p:nvSpPr>
        <p:spPr>
          <a:xfrm>
            <a:off x="6428232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Fu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906" y="16861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59752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428232" y="228600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and validate the model using real-world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Improve prediction performance through model tuning.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Integrate a database for storing daily meal records.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Deploy the dashboard online for easier access.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 actual surplus and food waste to measure real-world impact.</a:t>
            </a:r>
            <a:endParaRPr lang="en-US" sz="1400" dirty="0"/>
          </a:p>
        </p:txBody>
      </p:sp>
      <p:sp>
        <p:nvSpPr>
          <p:cNvPr id="14" name="Thank you band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 w="12700">
            <a:solidFill>
              <a:srgbClr val="0F5C4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440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Thank You!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and Discussion</a:t>
            </a:r>
            <a:endParaRPr lang="en-US" sz="1800" dirty="0"/>
          </a:p>
        </p:txBody>
      </p:sp>
      <p:pic>
        <p:nvPicPr>
          <p:cNvPr id="17" name="Image 2" descr="Lea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5577840"/>
            <a:ext cx="594360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Demand Green">
  <a:themeElements>
    <a:clrScheme name="Food Demand Green">
      <a:dk1>
        <a:srgbClr val="17302B"/>
      </a:dk1>
      <a:lt1>
        <a:srgbClr val="FFFFFF"/>
      </a:lt1>
      <a:dk2>
        <a:srgbClr val="0B3B3A"/>
      </a:dk2>
      <a:lt2>
        <a:srgbClr val="E3F3EC"/>
      </a:lt2>
      <a:accent1>
        <a:srgbClr val="1B8A6B"/>
      </a:accent1>
      <a:accent2>
        <a:srgbClr val="0F5C4D"/>
      </a:accent2>
      <a:accent3>
        <a:srgbClr val="F28C28"/>
      </a:accent3>
      <a:accent4>
        <a:srgbClr val="7ED6AE"/>
      </a:accent4>
      <a:accent5>
        <a:srgbClr val="3776AB"/>
      </a:accent5>
      <a:accent6>
        <a:srgbClr val="F5B700"/>
      </a:accent6>
      <a:hlink>
        <a:srgbClr val="1B8A6B"/>
      </a:hlink>
      <a:folHlink>
        <a:srgbClr val="0F5C4D"/>
      </a:folHlink>
    </a:clrScheme>
    <a:fontScheme name="Food Demand 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456</Words>
  <Application>Microsoft Office PowerPoint</Application>
  <PresentationFormat>Widescreen</PresentationFormat>
  <Paragraphs>135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Food Demand Green</vt:lpstr>
      <vt:lpstr>PowerPoint Presentation</vt:lpstr>
      <vt:lpstr>PowerPoint Presentation</vt:lpstr>
      <vt:lpstr>PowerPoint Presentation</vt:lpstr>
      <vt:lpstr>Dataset and Input Features</vt:lpstr>
      <vt:lpstr>Proposed Methodology</vt:lpstr>
      <vt:lpstr>Technology Stack</vt:lpstr>
      <vt:lpstr>Results and Dashboard</vt:lpstr>
      <vt:lpstr>Conclusion and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Food Demand Prediction and Waste Reduction System</dc:title>
  <dc:subject>PptxGenJS Presentation</dc:subject>
  <dc:creator>PptxGenJS</dc:creator>
  <cp:lastModifiedBy>Vishu Chaudhary</cp:lastModifiedBy>
  <cp:revision>2</cp:revision>
  <dcterms:created xsi:type="dcterms:W3CDTF">2026-10-18T10:11:40Z</dcterms:created>
  <dcterms:modified xsi:type="dcterms:W3CDTF">2026-10-18T11:04:04Z</dcterms:modified>
</cp:coreProperties>
</file>